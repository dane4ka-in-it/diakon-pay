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handoutMasterIdLst>
    <p:handoutMasterId r:id="rId21"/>
  </p:handoutMasterIdLst>
  <p:sldIdLst>
    <p:sldId id="257" r:id="rId4"/>
    <p:sldId id="272" r:id="rId5"/>
    <p:sldId id="258" r:id="rId6"/>
    <p:sldId id="259" r:id="rId7"/>
    <p:sldId id="260" r:id="rId8"/>
    <p:sldId id="265" r:id="rId9"/>
    <p:sldId id="268" r:id="rId10"/>
    <p:sldId id="271" r:id="rId11"/>
    <p:sldId id="269" r:id="rId12"/>
    <p:sldId id="273" r:id="rId13"/>
    <p:sldId id="270" r:id="rId14"/>
    <p:sldId id="263" r:id="rId15"/>
    <p:sldId id="274" r:id="rId16"/>
    <p:sldId id="262" r:id="rId17"/>
    <p:sldId id="261" r:id="rId18"/>
    <p:sldId id="266" r:id="rId19"/>
    <p:sldId id="267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60"/>
  </p:normalViewPr>
  <p:slideViewPr>
    <p:cSldViewPr snapToGrid="0">
      <p:cViewPr varScale="1">
        <p:scale>
          <a:sx n="86" d="100"/>
          <a:sy n="86" d="100"/>
        </p:scale>
        <p:origin x="7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08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46940A04-8052-470F-BF0C-C461FDA555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81D4E1-737E-49AD-9517-CDD019F19A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5AFD3-4DDC-448C-8C8C-3896C272B7FF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878ABF-554C-40FD-8440-CAEBDA8561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44AC9C-6F47-4E49-B844-D79C72CB84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2F088-3721-43D4-A529-3E3F11AEA5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873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C8B6B-2B62-54CB-733C-700727650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CF6200-05C0-C06B-A1B9-725E48560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27BD0-16BC-9546-F7C0-E8AF1692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D56BE0-5140-26ED-36B4-CFBFC007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154A65-2B73-11D3-EF4E-793C2740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607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319DF-3FDE-822D-FBC2-5DC70595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5D959-9D57-CCC5-5E50-3CB7B808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F0074-F3BB-A874-8EA9-CDF8AA49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87051-DE15-B77E-AD49-B12BBC4C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C9535A-D48F-3894-91E8-D6B0A830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23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EC1C-A262-A179-1758-1F608835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14ACB1-4422-B9A2-462C-90FEB771D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40A69C-ACE3-4CDC-4535-030132D0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6AB51-D6D4-9249-1DA5-2874BB56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5B351-4373-3F8F-460E-B454A081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37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6D7B7-A818-5DDD-39A9-77E39D1B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6A3CC-DF92-F788-5903-C8E499DB5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C82CC1-DD6E-6128-6C20-36D9E107C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88CD49-265C-83C6-6483-30842E12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CB1E6A-09F1-47E9-5826-FB548CA8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56B788-6E29-1D1D-0714-41DE9D02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447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256ED-8305-652E-98E2-4F07CF45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C4945B-F738-63AD-9FF8-FD195C83C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9AFD2-FE46-94EC-BC81-32371B0B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20FC34-AA7E-BEAC-2242-B7430A427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A57A23-87EE-150E-6E5C-2BF095A19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EA8A1F-C35A-089F-8B2F-AAD428E4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20B8E6-FD2E-2810-B4A7-8E5D5A7B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C059CBE-DCD2-BCB9-2AD9-E8B9B610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79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526CE-C450-5BDB-41B4-CE6B4C9A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96E399-005E-DB17-F994-6200849D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17F8B3-7133-6BDF-0F91-1B670F7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BAD7-8DD0-0462-DE12-D8A38678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38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9305E0-DEB8-F068-BD63-E3C1C3FD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0CC545-AF15-4935-D7F3-279C609B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79C818-B85A-2387-D256-DC5A0C70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15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C70AF-51CC-707A-D6AB-7B699C57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90D52E-FEE2-6B16-2DED-A537C1A10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7B1B09-F14E-97DD-BE40-330F5DC25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8AAD7-E469-7181-C9EB-6DA9E679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261F98-5677-5F23-EC6E-D59E7DB4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80FEA-4B06-ACAB-69B7-C3BE2C1E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65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E79E0-6222-9339-8698-4511BED9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55115D-31DE-385E-1DC8-1A3208A37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DE8B7F-DE74-ADEA-A846-91ADA1509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0FC8A9-CE85-FE3C-5F51-C43D2E5D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59B1C9-F49D-2D33-4FC8-7CA1426B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ED2A4E-743D-F5BA-AC24-C60CCEDB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314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C5ADB-8159-745F-A86B-0DF0702A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7C927A-1C6F-DC83-294C-55634A102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33EB2-1B36-B47C-E071-6F670221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53DAA-901A-CF60-A44C-1ED40066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F6F01D-61FC-C8AB-3B9B-0C0A1671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1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0B5319-BC45-C5FC-281C-5232929B4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60CF44-E569-F0CB-4877-0B80EEF16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388E68-2F06-D352-6911-30003DF6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E05E6-A167-E070-169D-4D003340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8958D2-CE95-5E22-B07A-E1BF7E57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401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C8B6B-2B62-54CB-733C-700727650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CF6200-05C0-C06B-A1B9-725E48560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27BD0-16BC-9546-F7C0-E8AF1692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D56BE0-5140-26ED-36B4-CFBFC007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154A65-2B73-11D3-EF4E-793C2740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15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319DF-3FDE-822D-FBC2-5DC70595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5D959-9D57-CCC5-5E50-3CB7B808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F0074-F3BB-A874-8EA9-CDF8AA49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87051-DE15-B77E-AD49-B12BBC4C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C9535A-D48F-3894-91E8-D6B0A830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450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EC1C-A262-A179-1758-1F608835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14ACB1-4422-B9A2-462C-90FEB771D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40A69C-ACE3-4CDC-4535-030132D0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6AB51-D6D4-9249-1DA5-2874BB56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5B351-4373-3F8F-460E-B454A081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31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6D7B7-A818-5DDD-39A9-77E39D1B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6A3CC-DF92-F788-5903-C8E499DB5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C82CC1-DD6E-6128-6C20-36D9E107C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88CD49-265C-83C6-6483-30842E12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CB1E6A-09F1-47E9-5826-FB548CA8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56B788-6E29-1D1D-0714-41DE9D02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996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256ED-8305-652E-98E2-4F07CF45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C4945B-F738-63AD-9FF8-FD195C83C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9AFD2-FE46-94EC-BC81-32371B0B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20FC34-AA7E-BEAC-2242-B7430A427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A57A23-87EE-150E-6E5C-2BF095A19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EA8A1F-C35A-089F-8B2F-AAD428E4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20B8E6-FD2E-2810-B4A7-8E5D5A7B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C059CBE-DCD2-BCB9-2AD9-E8B9B610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331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526CE-C450-5BDB-41B4-CE6B4C9A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96E399-005E-DB17-F994-6200849D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17F8B3-7133-6BDF-0F91-1B670F7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BAD7-8DD0-0462-DE12-D8A38678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7301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9305E0-DEB8-F068-BD63-E3C1C3FD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0CC545-AF15-4935-D7F3-279C609B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79C818-B85A-2387-D256-DC5A0C70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53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C70AF-51CC-707A-D6AB-7B699C57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90D52E-FEE2-6B16-2DED-A537C1A10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7B1B09-F14E-97DD-BE40-330F5DC25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8AAD7-E469-7181-C9EB-6DA9E679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261F98-5677-5F23-EC6E-D59E7DB4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80FEA-4B06-ACAB-69B7-C3BE2C1E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264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E79E0-6222-9339-8698-4511BED9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55115D-31DE-385E-1DC8-1A3208A37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DE8B7F-DE74-ADEA-A846-91ADA1509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0FC8A9-CE85-FE3C-5F51-C43D2E5D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59B1C9-F49D-2D33-4FC8-7CA1426B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ED2A4E-743D-F5BA-AC24-C60CCEDB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063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C5ADB-8159-745F-A86B-0DF0702A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7C927A-1C6F-DC83-294C-55634A102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33EB2-1B36-B47C-E071-6F670221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53DAA-901A-CF60-A44C-1ED40066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F6F01D-61FC-C8AB-3B9B-0C0A1671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09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0B5319-BC45-C5FC-281C-5232929B4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60CF44-E569-F0CB-4877-0B80EEF16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388E68-2F06-D352-6911-30003DF6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E05E6-A167-E070-169D-4D003340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8958D2-CE95-5E22-B07A-E1BF7E57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1593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C8B6B-2B62-54CB-733C-700727650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CF6200-05C0-C06B-A1B9-725E48560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27BD0-16BC-9546-F7C0-E8AF1692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D56BE0-5140-26ED-36B4-CFBFC007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154A65-2B73-11D3-EF4E-793C2740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1589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319DF-3FDE-822D-FBC2-5DC70595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5D959-9D57-CCC5-5E50-3CB7B808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F0074-F3BB-A874-8EA9-CDF8AA49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87051-DE15-B77E-AD49-B12BBC4C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C9535A-D48F-3894-91E8-D6B0A830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7424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EC1C-A262-A179-1758-1F608835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14ACB1-4422-B9A2-462C-90FEB771D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40A69C-ACE3-4CDC-4535-030132D0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6AB51-D6D4-9249-1DA5-2874BB56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5B351-4373-3F8F-460E-B454A081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08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6D7B7-A818-5DDD-39A9-77E39D1B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6A3CC-DF92-F788-5903-C8E499DB5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C82CC1-DD6E-6128-6C20-36D9E107C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88CD49-265C-83C6-6483-30842E12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CB1E6A-09F1-47E9-5826-FB548CA8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56B788-6E29-1D1D-0714-41DE9D02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859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256ED-8305-652E-98E2-4F07CF45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C4945B-F738-63AD-9FF8-FD195C83C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9AFD2-FE46-94EC-BC81-32371B0B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20FC34-AA7E-BEAC-2242-B7430A427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A57A23-87EE-150E-6E5C-2BF095A19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EA8A1F-C35A-089F-8B2F-AAD428E4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20B8E6-FD2E-2810-B4A7-8E5D5A7B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C059CBE-DCD2-BCB9-2AD9-E8B9B610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761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526CE-C450-5BDB-41B4-CE6B4C9A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96E399-005E-DB17-F994-6200849D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17F8B3-7133-6BDF-0F91-1B670F7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BAD7-8DD0-0462-DE12-D8A38678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9796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9305E0-DEB8-F068-BD63-E3C1C3FD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0CC545-AF15-4935-D7F3-279C609B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79C818-B85A-2387-D256-DC5A0C70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2726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C70AF-51CC-707A-D6AB-7B699C57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90D52E-FEE2-6B16-2DED-A537C1A10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7B1B09-F14E-97DD-BE40-330F5DC25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8AAD7-E469-7181-C9EB-6DA9E679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261F98-5677-5F23-EC6E-D59E7DB4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80FEA-4B06-ACAB-69B7-C3BE2C1E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4074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E79E0-6222-9339-8698-4511BED9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55115D-31DE-385E-1DC8-1A3208A37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DE8B7F-DE74-ADEA-A846-91ADA1509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0FC8A9-CE85-FE3C-5F51-C43D2E5D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59B1C9-F49D-2D33-4FC8-7CA1426B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ED2A4E-743D-F5BA-AC24-C60CCEDB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1367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C5ADB-8159-745F-A86B-0DF0702A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7C927A-1C6F-DC83-294C-55634A102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33EB2-1B36-B47C-E071-6F670221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53DAA-901A-CF60-A44C-1ED40066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F6F01D-61FC-C8AB-3B9B-0C0A1671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0858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0B5319-BC45-C5FC-281C-5232929B4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60CF44-E569-F0CB-4877-0B80EEF16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388E68-2F06-D352-6911-30003DF6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E05E6-A167-E070-169D-4D003340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8958D2-CE95-5E22-B07A-E1BF7E57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55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B0BE-0A2D-DEA5-1B70-1FDE9BEF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1A5C49-1B61-6879-5FF0-0A5059E94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5647BE-E66A-2AAB-0597-BCA389DCA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4F4E17-2AD6-A64C-AD07-B43B6438BF55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EDF19-3F2D-2E78-E417-08CD19F1A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A3E76-89C7-199D-D068-0AFFDF1B6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17359F-FBAC-AD41-9ECF-5A89D6F46C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46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B0BE-0A2D-DEA5-1B70-1FDE9BEF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1A5C49-1B61-6879-5FF0-0A5059E94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5647BE-E66A-2AAB-0597-BCA389DCA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EDF19-3F2D-2E78-E417-08CD19F1A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A3E76-89C7-199D-D068-0AFFDF1B6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24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B0BE-0A2D-DEA5-1B70-1FDE9BEF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1A5C49-1B61-6879-5FF0-0A5059E94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5647BE-E66A-2AAB-0597-BCA389DCA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F4E17-2AD6-A64C-AD07-B43B6438BF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EDF19-3F2D-2E78-E417-08CD19F1A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A3E76-89C7-199D-D068-0AFFDF1B6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66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6.png"/><Relationship Id="rId7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11" Type="http://schemas.openxmlformats.org/officeDocument/2006/relationships/image" Target="../media/image30.png"/><Relationship Id="rId5" Type="http://schemas.openxmlformats.org/officeDocument/2006/relationships/image" Target="../media/image2.png"/><Relationship Id="rId10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67D8DE-879F-90FB-5C7A-203A59DE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57" y="1545201"/>
            <a:ext cx="10329550" cy="920229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BD5AB9-AE23-548A-D457-83EC2E1E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58" y="382387"/>
            <a:ext cx="6885292" cy="9202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AF232E-F400-CDF4-F648-50E2C41FADB6}"/>
              </a:ext>
            </a:extLst>
          </p:cNvPr>
          <p:cNvSpPr txBox="1"/>
          <p:nvPr/>
        </p:nvSpPr>
        <p:spPr>
          <a:xfrm>
            <a:off x="923407" y="382387"/>
            <a:ext cx="4207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КЕЙС 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PWA </a:t>
            </a:r>
            <a:endParaRPr lang="ru-RU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6C0EFA-1A50-1BCD-0743-A037D69CCBF6}"/>
              </a:ext>
            </a:extLst>
          </p:cNvPr>
          <p:cNvSpPr txBox="1"/>
          <p:nvPr/>
        </p:nvSpPr>
        <p:spPr>
          <a:xfrm>
            <a:off x="899870" y="1542100"/>
            <a:ext cx="9580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 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DIAKON-TEAM</a:t>
            </a:r>
            <a:endParaRPr lang="ru-RU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206C958-F7DD-D02D-25A3-D14CDE87B119}"/>
              </a:ext>
            </a:extLst>
          </p:cNvPr>
          <p:cNvSpPr/>
          <p:nvPr/>
        </p:nvSpPr>
        <p:spPr>
          <a:xfrm>
            <a:off x="2004380" y="3472905"/>
            <a:ext cx="2007755" cy="1909523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C19E43C-1970-45C1-A2CD-F70A81B5E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647" y="3697232"/>
            <a:ext cx="1719833" cy="1523281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118C60-2A47-632B-D2DE-CE6CD5E13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297" y="5197198"/>
            <a:ext cx="2983417" cy="43952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D9B89CD-D910-E59D-5BCC-8CDA6100396E}"/>
              </a:ext>
            </a:extLst>
          </p:cNvPr>
          <p:cNvSpPr txBox="1"/>
          <p:nvPr/>
        </p:nvSpPr>
        <p:spPr>
          <a:xfrm>
            <a:off x="2061442" y="5223485"/>
            <a:ext cx="200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1legion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C56A1C-AB3C-7268-4AA7-F754FAF9FB77}"/>
              </a:ext>
            </a:extLst>
          </p:cNvPr>
          <p:cNvSpPr txBox="1"/>
          <p:nvPr/>
        </p:nvSpPr>
        <p:spPr>
          <a:xfrm>
            <a:off x="1746019" y="5636724"/>
            <a:ext cx="2687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Frontend,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QA-engineer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9D114EBB-054D-F0B4-F6EC-73B49046A84B}"/>
              </a:ext>
            </a:extLst>
          </p:cNvPr>
          <p:cNvSpPr/>
          <p:nvPr/>
        </p:nvSpPr>
        <p:spPr>
          <a:xfrm>
            <a:off x="5236592" y="3446618"/>
            <a:ext cx="2007755" cy="1909523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3BD2C0C-767A-4889-8904-E0A46C198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347" y="2993248"/>
            <a:ext cx="2612784" cy="2612784"/>
          </a:xfrm>
          <a:prstGeom prst="rect">
            <a:avLst/>
          </a:prstGeom>
        </p:spPr>
      </p:pic>
      <p:pic>
        <p:nvPicPr>
          <p:cNvPr id="38" name="Рисунок 37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845D5A-56B6-6734-C6D0-509D4764D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762" y="5197198"/>
            <a:ext cx="2909437" cy="43952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68B099E-0C88-365C-280A-09A1939DE48D}"/>
              </a:ext>
            </a:extLst>
          </p:cNvPr>
          <p:cNvSpPr txBox="1"/>
          <p:nvPr/>
        </p:nvSpPr>
        <p:spPr>
          <a:xfrm>
            <a:off x="5010176" y="5206008"/>
            <a:ext cx="268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IT_diakon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516AB0-9F68-D6FF-B8CE-202B2395CF45}"/>
              </a:ext>
            </a:extLst>
          </p:cNvPr>
          <p:cNvSpPr txBox="1"/>
          <p:nvPr/>
        </p:nvSpPr>
        <p:spPr>
          <a:xfrm>
            <a:off x="5033579" y="5636724"/>
            <a:ext cx="268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Lead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backend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134AD098-D291-1F12-D7A9-0EF0FCAC86B3}"/>
              </a:ext>
            </a:extLst>
          </p:cNvPr>
          <p:cNvSpPr/>
          <p:nvPr/>
        </p:nvSpPr>
        <p:spPr>
          <a:xfrm>
            <a:off x="8242387" y="3469932"/>
            <a:ext cx="2007755" cy="1909523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222AB3B-C01B-4129-8DDB-42529BDD9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485" y="3682727"/>
            <a:ext cx="1719833" cy="1523281"/>
          </a:xfrm>
          <a:prstGeom prst="rect">
            <a:avLst/>
          </a:prstGeom>
        </p:spPr>
      </p:pic>
      <p:pic>
        <p:nvPicPr>
          <p:cNvPr id="42" name="Рисунок 41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380E33-B313-A21D-1242-920127047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496" y="5194225"/>
            <a:ext cx="3095499" cy="43952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9EA54CE-1814-7C1A-3819-B30280E436B1}"/>
              </a:ext>
            </a:extLst>
          </p:cNvPr>
          <p:cNvSpPr txBox="1"/>
          <p:nvPr/>
        </p:nvSpPr>
        <p:spPr>
          <a:xfrm>
            <a:off x="8057683" y="5220513"/>
            <a:ext cx="280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Princess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CA0A19-DB6C-8C19-19C9-F66E1F739B5D}"/>
              </a:ext>
            </a:extLst>
          </p:cNvPr>
          <p:cNvSpPr txBox="1"/>
          <p:nvPr/>
        </p:nvSpPr>
        <p:spPr>
          <a:xfrm>
            <a:off x="8057683" y="5589845"/>
            <a:ext cx="260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Frontend, DB-engineer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6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8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2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4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6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8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2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44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6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68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8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33" grpId="0" animBg="1"/>
      <p:bldP spid="35" grpId="0"/>
      <p:bldP spid="36" grpId="0"/>
      <p:bldP spid="37" grpId="0" animBg="1"/>
      <p:bldP spid="39" grpId="0"/>
      <p:bldP spid="40" grpId="0"/>
      <p:bldP spid="41" grpId="0" animBg="1"/>
      <p:bldP spid="43" grpId="0"/>
      <p:bldP spid="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B164A38-7F8F-4B5B-9303-556C2DAAF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81" y="187078"/>
            <a:ext cx="6885292" cy="920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8243E-A2D7-4C7C-A7B2-CF21A2BCBA50}"/>
              </a:ext>
            </a:extLst>
          </p:cNvPr>
          <p:cNvSpPr txBox="1"/>
          <p:nvPr/>
        </p:nvSpPr>
        <p:spPr>
          <a:xfrm>
            <a:off x="947967" y="187078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E2E2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ЦЕЛИ И ЗАДАЧИ</a:t>
            </a:r>
            <a:endParaRPr lang="ru-RU" sz="5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8F4E7-1334-4E6A-A6F0-DADFD8ADB5F8}"/>
              </a:ext>
            </a:extLst>
          </p:cNvPr>
          <p:cNvSpPr txBox="1"/>
          <p:nvPr/>
        </p:nvSpPr>
        <p:spPr>
          <a:xfrm>
            <a:off x="552581" y="1426631"/>
            <a:ext cx="107575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Цель: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Разработать автономное PWA-приложение для учета личных финансов.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55818-7898-412D-B829-56D600BB350F}"/>
              </a:ext>
            </a:extLst>
          </p:cNvPr>
          <p:cNvSpPr txBox="1"/>
          <p:nvPr/>
        </p:nvSpPr>
        <p:spPr>
          <a:xfrm>
            <a:off x="552581" y="2257628"/>
            <a:ext cx="83113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Спроектировать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API</a:t>
            </a: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Разработать </a:t>
            </a:r>
            <a:r>
              <a:rPr lang="en-US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SPA-</a:t>
            </a:r>
            <a:r>
              <a:rPr lang="ru-RU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интерфейс (</a:t>
            </a:r>
            <a:r>
              <a:rPr lang="en-US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React/Vue).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Разработать серверное приложение (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Реализовать безопасность и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JWT-</a:t>
            </a: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токены.</a:t>
            </a:r>
            <a:endParaRPr lang="en-US" sz="240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Внедрить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Worker </a:t>
            </a: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кэширования и офлайн-режима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Настроить двустороннюю синхронизацию данных </a:t>
            </a:r>
            <a:r>
              <a:rPr lang="en-US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между </a:t>
            </a:r>
            <a:r>
              <a:rPr lang="en-US" sz="24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IndexedDB</a:t>
            </a:r>
            <a:r>
              <a:rPr lang="en-US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PostgreSQL)</a:t>
            </a:r>
            <a:r>
              <a:rPr lang="ru-RU" sz="2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 разрешением конфликтных ситуаций.</a:t>
            </a:r>
            <a:endParaRPr lang="en-US" sz="240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 меня есть идея-фича, а у вас проблема… решим ближе к концу</a:t>
            </a:r>
            <a:endParaRPr lang="ru-RU" sz="240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ru-RU" sz="2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E9081D-B016-4D69-B836-6A603696B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927" y="2232176"/>
            <a:ext cx="8099938" cy="462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3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EC20CC-A071-490E-922B-75061EEF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87" y="162847"/>
            <a:ext cx="10347772" cy="920229"/>
          </a:xfrm>
          <a:prstGeom prst="rect">
            <a:avLst/>
          </a:prstGeom>
        </p:spPr>
      </p:pic>
      <p:graphicFrame>
        <p:nvGraphicFramePr>
          <p:cNvPr id="2" name="Таблица 12">
            <a:extLst>
              <a:ext uri="{FF2B5EF4-FFF2-40B4-BE49-F238E27FC236}">
                <a16:creationId xmlns:a16="http://schemas.microsoft.com/office/drawing/2014/main" id="{5B18FCD5-8AE0-4CF4-97AE-8158BEFFD5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2498434"/>
              </p:ext>
            </p:extLst>
          </p:nvPr>
        </p:nvGraphicFramePr>
        <p:xfrm>
          <a:off x="976011" y="1313895"/>
          <a:ext cx="10105749" cy="5479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583">
                  <a:extLst>
                    <a:ext uri="{9D8B030D-6E8A-4147-A177-3AD203B41FA5}">
                      <a16:colId xmlns:a16="http://schemas.microsoft.com/office/drawing/2014/main" val="3628518007"/>
                    </a:ext>
                  </a:extLst>
                </a:gridCol>
                <a:gridCol w="3368583">
                  <a:extLst>
                    <a:ext uri="{9D8B030D-6E8A-4147-A177-3AD203B41FA5}">
                      <a16:colId xmlns:a16="http://schemas.microsoft.com/office/drawing/2014/main" val="1907039509"/>
                    </a:ext>
                  </a:extLst>
                </a:gridCol>
                <a:gridCol w="3368583">
                  <a:extLst>
                    <a:ext uri="{9D8B030D-6E8A-4147-A177-3AD203B41FA5}">
                      <a16:colId xmlns:a16="http://schemas.microsoft.com/office/drawing/2014/main" val="295931333"/>
                    </a:ext>
                  </a:extLst>
                </a:gridCol>
              </a:tblGrid>
              <a:tr h="878890"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Область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Технология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Накой</a:t>
                      </a:r>
                      <a:r>
                        <a:rPr lang="ru-RU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зачем и почему?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044907"/>
                  </a:ext>
                </a:extLst>
              </a:tr>
              <a:tr h="20109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Java 17, Spring Boot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Обеспечивает высокую скорость разработки API (Spring Web), надежную защиту </a:t>
                      </a:r>
                      <a:r>
                        <a:rPr lang="ru-RU" sz="1200" b="1" i="0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эндпоинтов</a:t>
                      </a:r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(Spring Security) и легкую работу с БД (Spring Data JPA)</a:t>
                      </a:r>
                      <a:b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 еще я так хочу.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350621"/>
                  </a:ext>
                </a:extLst>
              </a:tr>
              <a:tr h="1042697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Base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PostgreSQL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Надежная реляционная БД. Идеально подходит для финансовых транзакций благодаря строгой типизации, поддержке ACID и транзакционной целостности.</a:t>
                      </a:r>
                    </a:p>
                    <a:p>
                      <a:pPr algn="ctr"/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 кроме нее я </a:t>
                      </a:r>
                      <a:r>
                        <a:rPr lang="ru-RU" sz="1200" b="1" i="0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ниче</a:t>
                      </a:r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не умею.</a:t>
                      </a:r>
                      <a:endParaRPr lang="en-US" sz="1200" b="1" i="0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216267"/>
                  </a:ext>
                </a:extLst>
              </a:tr>
              <a:tr h="466752">
                <a:tc vMerge="1"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IndexedDB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Нативный браузерный стек для реализации требований PWA.</a:t>
                      </a:r>
                      <a:endParaRPr lang="en-US" sz="1200" b="1" i="0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477602"/>
                  </a:ext>
                </a:extLst>
              </a:tr>
              <a:tr h="1234772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Frontend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TypeScript, </a:t>
                      </a:r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React, </a:t>
                      </a:r>
                      <a:r>
                        <a:rPr lang="en-US" sz="1200" b="1" i="0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Vue.js</a:t>
                      </a:r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?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TS минимизирует ошибки в типизации данных между клиентом и сервером. Фреймворк обеспечивает компонентный подход и реактивное обновление UI без перезагрузки страниц (SPA).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747877"/>
                  </a:ext>
                </a:extLst>
              </a:tr>
              <a:tr h="850621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DevOps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Docker, Docker Compose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Контейнеризация проекта.</a:t>
                      </a:r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Позволяет развернуть БД, </a:t>
                      </a:r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Frontend </a:t>
                      </a:r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 </a:t>
                      </a:r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backend </a:t>
                      </a:r>
                      <a:r>
                        <a:rPr lang="ru-RU" sz="1200" b="1" i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одной командой в терминале на разных системах.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860183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837FCD1-C1CB-44D4-B2E0-CFA82CE98FBC}"/>
              </a:ext>
            </a:extLst>
          </p:cNvPr>
          <p:cNvSpPr txBox="1">
            <a:spLocks/>
          </p:cNvSpPr>
          <p:nvPr/>
        </p:nvSpPr>
        <p:spPr>
          <a:xfrm>
            <a:off x="722452" y="237374"/>
            <a:ext cx="10747095" cy="7013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b="1" dirty="0">
                <a:solidFill>
                  <a:srgbClr val="E2E2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ТЕХНОЛОГИЧЕСКИЙ СТЕК</a:t>
            </a:r>
            <a:endParaRPr lang="ru-RU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53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C41488-ED65-4143-B1CF-730507131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30" y="843379"/>
            <a:ext cx="4408787" cy="13647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89916-1DC7-4656-B55E-0F3430B4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293"/>
            <a:ext cx="4845014" cy="190849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b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(С4 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Model)</a:t>
            </a:r>
            <a:endParaRPr lang="ru-RU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8B9579-64CD-4128-A1BE-F95590FA6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6227" y="2552350"/>
            <a:ext cx="4201995" cy="3811588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КОНТЕКСТА К КОНТЕЙНЕРАМ:</a:t>
            </a:r>
          </a:p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Мы используем стандарт С4 для последовательной детализации системы: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System Context </a:t>
            </a:r>
            <a:r>
              <a:rPr lang="en-US" dirty="0">
                <a:solidFill>
                  <a:schemeClr val="bg1"/>
                </a:solidFill>
              </a:rPr>
              <a:t>– </a:t>
            </a:r>
            <a:r>
              <a:rPr lang="ru-RU" dirty="0">
                <a:solidFill>
                  <a:schemeClr val="bg1"/>
                </a:solidFill>
              </a:rPr>
              <a:t>внешние зависимости и границы </a:t>
            </a:r>
            <a:r>
              <a:rPr lang="en-US" dirty="0">
                <a:solidFill>
                  <a:schemeClr val="bg1"/>
                </a:solidFill>
              </a:rPr>
              <a:t>MVP.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Container View </a:t>
            </a:r>
            <a:r>
              <a:rPr lang="en-US" dirty="0">
                <a:solidFill>
                  <a:schemeClr val="bg1"/>
                </a:solidFill>
              </a:rPr>
              <a:t>– </a:t>
            </a:r>
            <a:r>
              <a:rPr lang="ru-RU" dirty="0">
                <a:solidFill>
                  <a:schemeClr val="bg1"/>
                </a:solidFill>
              </a:rPr>
              <a:t>техническая реализация.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omponent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View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схематическая реализация каждого контейнера.</a:t>
            </a: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4851220B-D98D-4645-BD69-28D15B978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986" y="132075"/>
            <a:ext cx="6521785" cy="659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29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8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2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6FE8EE-FAAB-4CAC-B926-E1D1082B2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6" y="292964"/>
            <a:ext cx="4408787" cy="136476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94CBAB4-A3BF-4FC1-A1DE-1AEBF7A2F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742" y="101402"/>
            <a:ext cx="9756397" cy="665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4E5EFE-044A-46C6-9E43-798FB8DA0AFC}"/>
              </a:ext>
            </a:extLst>
          </p:cNvPr>
          <p:cNvSpPr txBox="1"/>
          <p:nvPr/>
        </p:nvSpPr>
        <p:spPr>
          <a:xfrm>
            <a:off x="599029" y="375179"/>
            <a:ext cx="35212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ONTAINERS</a:t>
            </a:r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  <a:endParaRPr lang="ru-RU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8A1099-6D9C-4CC9-A7C0-3FCBD1900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739" y="3548364"/>
            <a:ext cx="5983549" cy="330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9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706AF7-BF89-4CD0-B593-01FE4C40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73" y="455039"/>
            <a:ext cx="4208315" cy="8044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729BEC-4D49-469C-B620-4C7C02CE2969}"/>
              </a:ext>
            </a:extLst>
          </p:cNvPr>
          <p:cNvSpPr txBox="1"/>
          <p:nvPr/>
        </p:nvSpPr>
        <p:spPr>
          <a:xfrm>
            <a:off x="497047" y="520010"/>
            <a:ext cx="4007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 РАБОТЫ: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0766E-36E9-47DF-91BB-407BED9FB50B}"/>
              </a:ext>
            </a:extLst>
          </p:cNvPr>
          <p:cNvSpPr txBox="1"/>
          <p:nvPr/>
        </p:nvSpPr>
        <p:spPr>
          <a:xfrm>
            <a:off x="525823" y="4590168"/>
            <a:ext cx="4821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Примечание по методологии разработки: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BCC89-5804-4C06-88F8-DF65C4D9F10B}"/>
              </a:ext>
            </a:extLst>
          </p:cNvPr>
          <p:cNvSpPr txBox="1"/>
          <p:nvPr/>
        </p:nvSpPr>
        <p:spPr>
          <a:xfrm>
            <a:off x="497047" y="1417738"/>
            <a:ext cx="2598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Дорожная карта:</a:t>
            </a:r>
            <a:endParaRPr lang="ru-RU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DDA93-D412-4CCD-9304-0F7B9E2F75A4}"/>
              </a:ext>
            </a:extLst>
          </p:cNvPr>
          <p:cNvSpPr txBox="1"/>
          <p:nvPr/>
        </p:nvSpPr>
        <p:spPr>
          <a:xfrm>
            <a:off x="525822" y="4928722"/>
            <a:ext cx="114442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Разработка проекта велась по методологии </a:t>
            </a:r>
            <a:r>
              <a:rPr lang="ru-RU" sz="1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Agile</a:t>
            </a:r>
            <a:r>
              <a:rPr lang="ru-RU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6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Scrum</a:t>
            </a:r>
            <a:r>
              <a:rPr lang="ru-RU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и была разделена на пять спринтов. На начальном этапе спроектировали БД и С4-архитектуру, после чего реализовали авторизацию через </a:t>
            </a:r>
            <a:r>
              <a:rPr lang="ru-RU" sz="1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JWT</a:t>
            </a:r>
            <a:r>
              <a:rPr lang="ru-RU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базовый функционал транзакций. Далее внедрили графическую аналитику и офлайн-режим на базе </a:t>
            </a:r>
            <a:r>
              <a:rPr lang="ru-RU" sz="1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</a:t>
            </a:r>
            <a:r>
              <a:rPr lang="ru-RU" sz="1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</a:t>
            </a:r>
            <a:r>
              <a:rPr lang="ru-RU" sz="1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1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IndexedDB</a:t>
            </a:r>
            <a:r>
              <a:rPr lang="ru-RU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Параллельная разработка интерфейса на тестовых данных и серверной части позволила сократить сроки и подготовить стабильный MVP к финальному тестированию.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DC24150-C898-47A1-ABC8-1A518BE7D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22" y="2146489"/>
            <a:ext cx="11386687" cy="163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6D3887C-26F4-4C34-84D7-3AB79B93349D}"/>
              </a:ext>
            </a:extLst>
          </p:cNvPr>
          <p:cNvSpPr txBox="1"/>
          <p:nvPr/>
        </p:nvSpPr>
        <p:spPr>
          <a:xfrm>
            <a:off x="639192" y="3739388"/>
            <a:ext cx="2032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8 апреля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F9E253-E94E-4AF6-A7B5-E5CF1A9FC838}"/>
              </a:ext>
            </a:extLst>
          </p:cNvPr>
          <p:cNvSpPr txBox="1"/>
          <p:nvPr/>
        </p:nvSpPr>
        <p:spPr>
          <a:xfrm>
            <a:off x="9633191" y="3725689"/>
            <a:ext cx="2032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2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ru-RU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апреля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C2A983-B243-42EB-BFCA-28956140CBD3}"/>
              </a:ext>
            </a:extLst>
          </p:cNvPr>
          <p:cNvSpPr txBox="1"/>
          <p:nvPr/>
        </p:nvSpPr>
        <p:spPr>
          <a:xfrm>
            <a:off x="7403978" y="3719227"/>
            <a:ext cx="2032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2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апреля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081F04-A476-40EF-AB87-4735BB7F4373}"/>
              </a:ext>
            </a:extLst>
          </p:cNvPr>
          <p:cNvSpPr txBox="1"/>
          <p:nvPr/>
        </p:nvSpPr>
        <p:spPr>
          <a:xfrm>
            <a:off x="5131294" y="3725689"/>
            <a:ext cx="2076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2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апреля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EAFE31-1730-4A03-B047-7D12743677D9}"/>
              </a:ext>
            </a:extLst>
          </p:cNvPr>
          <p:cNvSpPr txBox="1"/>
          <p:nvPr/>
        </p:nvSpPr>
        <p:spPr>
          <a:xfrm>
            <a:off x="2885243" y="3725689"/>
            <a:ext cx="2049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1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апреля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179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8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8" grpId="0"/>
      <p:bldP spid="18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F36BC3C-0B75-4489-81AC-FADF1B7D3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790342"/>
              </p:ext>
            </p:extLst>
          </p:nvPr>
        </p:nvGraphicFramePr>
        <p:xfrm>
          <a:off x="612561" y="1489553"/>
          <a:ext cx="11221373" cy="4920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1843">
                  <a:extLst>
                    <a:ext uri="{9D8B030D-6E8A-4147-A177-3AD203B41FA5}">
                      <a16:colId xmlns:a16="http://schemas.microsoft.com/office/drawing/2014/main" val="609879460"/>
                    </a:ext>
                  </a:extLst>
                </a:gridCol>
                <a:gridCol w="1991843">
                  <a:extLst>
                    <a:ext uri="{9D8B030D-6E8A-4147-A177-3AD203B41FA5}">
                      <a16:colId xmlns:a16="http://schemas.microsoft.com/office/drawing/2014/main" val="2793819961"/>
                    </a:ext>
                  </a:extLst>
                </a:gridCol>
                <a:gridCol w="1991843">
                  <a:extLst>
                    <a:ext uri="{9D8B030D-6E8A-4147-A177-3AD203B41FA5}">
                      <a16:colId xmlns:a16="http://schemas.microsoft.com/office/drawing/2014/main" val="3315477243"/>
                    </a:ext>
                  </a:extLst>
                </a:gridCol>
                <a:gridCol w="3254001">
                  <a:extLst>
                    <a:ext uri="{9D8B030D-6E8A-4147-A177-3AD203B41FA5}">
                      <a16:colId xmlns:a16="http://schemas.microsoft.com/office/drawing/2014/main" val="3902308972"/>
                    </a:ext>
                  </a:extLst>
                </a:gridCol>
                <a:gridCol w="1991843">
                  <a:extLst>
                    <a:ext uri="{9D8B030D-6E8A-4147-A177-3AD203B41FA5}">
                      <a16:colId xmlns:a16="http://schemas.microsoft.com/office/drawing/2014/main" val="3792076072"/>
                    </a:ext>
                  </a:extLst>
                </a:gridCol>
              </a:tblGrid>
              <a:tr h="48276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Спринт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Роль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Исполнитель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Описание задачи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Статус задачи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057782"/>
                  </a:ext>
                </a:extLst>
              </a:tr>
              <a:tr h="7395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Team Lead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IT_diakon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Проектирование архитектуры приложения и разработка C4-диаграмм.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✅</a:t>
                      </a:r>
                      <a:endParaRPr lang="ru-RU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950734"/>
                  </a:ext>
                </a:extLst>
              </a:tr>
              <a:tr h="4930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Backend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IT_diakon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Проектирование схемы БД (ER-диаграмма) для MVP.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u="none" strike="noStrike" dirty="0">
                          <a:effectLst/>
                        </a:rPr>
                        <a:t>✅</a:t>
                      </a:r>
                      <a:endParaRPr lang="ru-RU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13390"/>
                  </a:ext>
                </a:extLst>
              </a:tr>
              <a:tr h="4930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Frontend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1legion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Проработка пользовательских сценариев и базовых макетов UI.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⏳</a:t>
                      </a:r>
                      <a:endParaRPr lang="en-US" sz="1100" b="0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148097"/>
                  </a:ext>
                </a:extLst>
              </a:tr>
              <a:tr h="7395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Frontend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Princess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Инициализация </a:t>
                      </a:r>
                      <a:r>
                        <a:rPr lang="en-US" sz="1100" u="none" strike="noStrike" dirty="0">
                          <a:effectLst/>
                        </a:rPr>
                        <a:t>frontend-</a:t>
                      </a:r>
                      <a:r>
                        <a:rPr lang="ru-RU" sz="1100" u="none" strike="noStrike" dirty="0">
                          <a:effectLst/>
                        </a:rPr>
                        <a:t>проекта и настройка базовой структуры.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⏳</a:t>
                      </a:r>
                      <a:endParaRPr lang="en-US" sz="1100" b="0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857737"/>
                  </a:ext>
                </a:extLst>
              </a:tr>
              <a:tr h="7395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Backend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IT_diakon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Реализация серверной части: регистрация и добавление транзакций.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191659"/>
                  </a:ext>
                </a:extLst>
              </a:tr>
              <a:tr h="7395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Frontend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1legion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Верстка функционала регистрации и добавления транзакций.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06479"/>
                  </a:ext>
                </a:extLst>
              </a:tr>
              <a:tr h="4930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Frontend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Princess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Настройка взаимодействия клиентской части с API сервера.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177524"/>
                  </a:ext>
                </a:extLst>
              </a:tr>
            </a:tbl>
          </a:graphicData>
        </a:graphic>
      </p:graphicFrame>
      <p:pic>
        <p:nvPicPr>
          <p:cNvPr id="7" name="Рисунок 6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2D931F-757E-4DE3-B035-E6D23A534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73" y="455039"/>
            <a:ext cx="4208315" cy="804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1340E0-4603-4DA1-A41A-65D2B8E86902}"/>
              </a:ext>
            </a:extLst>
          </p:cNvPr>
          <p:cNvSpPr txBox="1"/>
          <p:nvPr/>
        </p:nvSpPr>
        <p:spPr>
          <a:xfrm>
            <a:off x="497047" y="520010"/>
            <a:ext cx="4007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 РАБОТЫ:</a:t>
            </a:r>
          </a:p>
        </p:txBody>
      </p:sp>
    </p:spTree>
    <p:extLst>
      <p:ext uri="{BB962C8B-B14F-4D97-AF65-F5344CB8AC3E}">
        <p14:creationId xmlns:p14="http://schemas.microsoft.com/office/powerpoint/2010/main" val="328777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77E64BB-CD16-4CA9-9B68-BE743A90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700793"/>
              </p:ext>
            </p:extLst>
          </p:nvPr>
        </p:nvGraphicFramePr>
        <p:xfrm>
          <a:off x="612561" y="1489553"/>
          <a:ext cx="11221373" cy="4937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1843">
                  <a:extLst>
                    <a:ext uri="{9D8B030D-6E8A-4147-A177-3AD203B41FA5}">
                      <a16:colId xmlns:a16="http://schemas.microsoft.com/office/drawing/2014/main" val="609879460"/>
                    </a:ext>
                  </a:extLst>
                </a:gridCol>
                <a:gridCol w="1991843">
                  <a:extLst>
                    <a:ext uri="{9D8B030D-6E8A-4147-A177-3AD203B41FA5}">
                      <a16:colId xmlns:a16="http://schemas.microsoft.com/office/drawing/2014/main" val="2793819961"/>
                    </a:ext>
                  </a:extLst>
                </a:gridCol>
                <a:gridCol w="1991843">
                  <a:extLst>
                    <a:ext uri="{9D8B030D-6E8A-4147-A177-3AD203B41FA5}">
                      <a16:colId xmlns:a16="http://schemas.microsoft.com/office/drawing/2014/main" val="3315477243"/>
                    </a:ext>
                  </a:extLst>
                </a:gridCol>
                <a:gridCol w="3254001">
                  <a:extLst>
                    <a:ext uri="{9D8B030D-6E8A-4147-A177-3AD203B41FA5}">
                      <a16:colId xmlns:a16="http://schemas.microsoft.com/office/drawing/2014/main" val="3902308972"/>
                    </a:ext>
                  </a:extLst>
                </a:gridCol>
                <a:gridCol w="1991843">
                  <a:extLst>
                    <a:ext uri="{9D8B030D-6E8A-4147-A177-3AD203B41FA5}">
                      <a16:colId xmlns:a16="http://schemas.microsoft.com/office/drawing/2014/main" val="3792076072"/>
                    </a:ext>
                  </a:extLst>
                </a:gridCol>
              </a:tblGrid>
              <a:tr h="48276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Спринт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Роль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Исполнитель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Описание задачи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Статус задачи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057782"/>
                  </a:ext>
                </a:extLst>
              </a:tr>
              <a:tr h="7395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Backend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IT_diakon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Реализация функционала аналитики и фильтрации транзакций.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950734"/>
                  </a:ext>
                </a:extLst>
              </a:tr>
              <a:tr h="4930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Frontend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1legion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Разработка визуального </a:t>
                      </a:r>
                      <a:r>
                        <a:rPr lang="ru-RU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дашборда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для аналитики и отчётов.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13390"/>
                  </a:ext>
                </a:extLst>
              </a:tr>
              <a:tr h="4930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Frontend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Princess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Настройка отрисовки отчетов на основе данных с сервера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148097"/>
                  </a:ext>
                </a:extLst>
              </a:tr>
              <a:tr h="7395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Frontend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Princess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Реализация офлайн-режима </a:t>
                      </a:r>
                      <a:r>
                        <a:rPr lang="en-US" sz="1100" u="none" strike="noStrike" dirty="0">
                          <a:effectLst/>
                        </a:rPr>
                        <a:t>PWA (Service Worker, </a:t>
                      </a:r>
                      <a:r>
                        <a:rPr lang="en-US" sz="1100" u="none" strike="noStrike" dirty="0" err="1">
                          <a:effectLst/>
                        </a:rPr>
                        <a:t>IndexedDB</a:t>
                      </a:r>
                      <a:r>
                        <a:rPr lang="en-US" sz="1100" u="none" strike="noStrike" dirty="0">
                          <a:effectLst/>
                        </a:rPr>
                        <a:t>).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857737"/>
                  </a:ext>
                </a:extLst>
              </a:tr>
              <a:tr h="7395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Backend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IT_diakon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Настройка пакетного приёма данных из офлайн-очереди клиента.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191659"/>
                  </a:ext>
                </a:extLst>
              </a:tr>
              <a:tr h="7395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Frontend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1legion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Внедрены визуальные индикаторы отсутствия сети, обработаны состояния ошибок.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06479"/>
                  </a:ext>
                </a:extLst>
              </a:tr>
              <a:tr h="4930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Проведение комплексного полного тестирования функционала MVP.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ru-RU" sz="1100" u="none" strike="noStrike" dirty="0">
                          <a:effectLst/>
                        </a:rPr>
                        <a:t>Подготовка презентации и отчетов.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177524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B567A82-6B33-4272-893D-65781481B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73" y="455039"/>
            <a:ext cx="4208315" cy="804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561870-72CF-47D0-9BB5-FBED08D041FE}"/>
              </a:ext>
            </a:extLst>
          </p:cNvPr>
          <p:cNvSpPr txBox="1"/>
          <p:nvPr/>
        </p:nvSpPr>
        <p:spPr>
          <a:xfrm>
            <a:off x="497047" y="520010"/>
            <a:ext cx="4007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 РАБОТЫ:</a:t>
            </a:r>
          </a:p>
        </p:txBody>
      </p:sp>
    </p:spTree>
    <p:extLst>
      <p:ext uri="{BB962C8B-B14F-4D97-AF65-F5344CB8AC3E}">
        <p14:creationId xmlns:p14="http://schemas.microsoft.com/office/powerpoint/2010/main" val="143274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44" name="Picture 32">
            <a:extLst>
              <a:ext uri="{FF2B5EF4-FFF2-40B4-BE49-F238E27FC236}">
                <a16:creationId xmlns:a16="http://schemas.microsoft.com/office/drawing/2014/main" id="{A950D9F9-A432-496B-A643-2DC8BB768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800" y="3529236"/>
            <a:ext cx="2050510" cy="64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32" name="Picture 20">
            <a:extLst>
              <a:ext uri="{FF2B5EF4-FFF2-40B4-BE49-F238E27FC236}">
                <a16:creationId xmlns:a16="http://schemas.microsoft.com/office/drawing/2014/main" id="{8150CE73-E1B0-48AB-9DCD-A94BD64A8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377" y="3432986"/>
            <a:ext cx="2050510" cy="74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7DE582-650F-4517-8667-D49B6AE0A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95" y="272928"/>
            <a:ext cx="5980926" cy="70786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B6739-2FD8-4F4D-A0B6-D269E03E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60" y="72312"/>
            <a:ext cx="5428790" cy="1037191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РАБОТА С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WORKER-</a:t>
            </a: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АМИ: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7E405DD7-5E9A-42A3-8523-C40F31A2F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323" y="3288222"/>
            <a:ext cx="2372043" cy="127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68F1DEE1-46EC-4BB0-80EB-C8EDB8C8B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416" y="1310119"/>
            <a:ext cx="2205855" cy="118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>
            <a:extLst>
              <a:ext uri="{FF2B5EF4-FFF2-40B4-BE49-F238E27FC236}">
                <a16:creationId xmlns:a16="http://schemas.microsoft.com/office/drawing/2014/main" id="{2987D9B2-90FB-4D4F-8B27-692C0A482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583" y="1275267"/>
            <a:ext cx="2205855" cy="118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>
            <a:extLst>
              <a:ext uri="{FF2B5EF4-FFF2-40B4-BE49-F238E27FC236}">
                <a16:creationId xmlns:a16="http://schemas.microsoft.com/office/drawing/2014/main" id="{BEA68E65-DE9A-4671-AEEB-FD9B91C40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583" y="5457411"/>
            <a:ext cx="2372044" cy="127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34" name="Picture 22">
            <a:extLst>
              <a:ext uri="{FF2B5EF4-FFF2-40B4-BE49-F238E27FC236}">
                <a16:creationId xmlns:a16="http://schemas.microsoft.com/office/drawing/2014/main" id="{0CF63EC7-D4B1-4B07-9947-FAD716920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13" y="2254428"/>
            <a:ext cx="897530" cy="127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>
            <a:extLst>
              <a:ext uri="{FF2B5EF4-FFF2-40B4-BE49-F238E27FC236}">
                <a16:creationId xmlns:a16="http://schemas.microsoft.com/office/drawing/2014/main" id="{BB7D7FEC-D940-41EC-8008-A43A785AD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60" y="3065085"/>
            <a:ext cx="1551941" cy="141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36" name="Picture 24">
            <a:extLst>
              <a:ext uri="{FF2B5EF4-FFF2-40B4-BE49-F238E27FC236}">
                <a16:creationId xmlns:a16="http://schemas.microsoft.com/office/drawing/2014/main" id="{A22B2DEA-CFA7-4DFC-AB81-9D72B3A68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046" y="2254428"/>
            <a:ext cx="1384810" cy="131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42" name="Picture 30">
            <a:extLst>
              <a:ext uri="{FF2B5EF4-FFF2-40B4-BE49-F238E27FC236}">
                <a16:creationId xmlns:a16="http://schemas.microsoft.com/office/drawing/2014/main" id="{C87DB96E-717A-4B44-917A-FCEFD43D1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000" y="3178253"/>
            <a:ext cx="1449104" cy="144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46" name="Picture 34">
            <a:extLst>
              <a:ext uri="{FF2B5EF4-FFF2-40B4-BE49-F238E27FC236}">
                <a16:creationId xmlns:a16="http://schemas.microsoft.com/office/drawing/2014/main" id="{EE961D21-BC51-4076-8035-9C4C59763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2552" y="3633638"/>
            <a:ext cx="1172608" cy="58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48" name="Picture 36">
            <a:extLst>
              <a:ext uri="{FF2B5EF4-FFF2-40B4-BE49-F238E27FC236}">
                <a16:creationId xmlns:a16="http://schemas.microsoft.com/office/drawing/2014/main" id="{540B1EB9-B084-4724-A843-6974C3203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590" y="2254429"/>
            <a:ext cx="1525530" cy="181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50" name="Picture 38">
            <a:extLst>
              <a:ext uri="{FF2B5EF4-FFF2-40B4-BE49-F238E27FC236}">
                <a16:creationId xmlns:a16="http://schemas.microsoft.com/office/drawing/2014/main" id="{0B2A1A47-BC08-4401-AF67-95CE783EF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38" y="3770512"/>
            <a:ext cx="1525530" cy="193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E4E5E6-90D4-4115-BADE-AB8E2BBF15F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0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6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4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6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0" name="Picture 14">
            <a:extLst>
              <a:ext uri="{FF2B5EF4-FFF2-40B4-BE49-F238E27FC236}">
                <a16:creationId xmlns:a16="http://schemas.microsoft.com/office/drawing/2014/main" id="{AC402328-53CD-468C-A7E9-8C0A0CEF4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665" y="2225155"/>
            <a:ext cx="5800087" cy="157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2" name="Picture 16">
            <a:extLst>
              <a:ext uri="{FF2B5EF4-FFF2-40B4-BE49-F238E27FC236}">
                <a16:creationId xmlns:a16="http://schemas.microsoft.com/office/drawing/2014/main" id="{5E90AF48-D42C-49D2-B1F7-AB7EBB834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659" y="3338636"/>
            <a:ext cx="3287204" cy="157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4" name="Picture 18">
            <a:extLst>
              <a:ext uri="{FF2B5EF4-FFF2-40B4-BE49-F238E27FC236}">
                <a16:creationId xmlns:a16="http://schemas.microsoft.com/office/drawing/2014/main" id="{5D7A78EA-AB0C-49A0-8B22-1631A629D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593" y="4951396"/>
            <a:ext cx="2104437" cy="64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103443-66E8-40CF-A1A5-541DC1A03AA7}"/>
              </a:ext>
            </a:extLst>
          </p:cNvPr>
          <p:cNvSpPr txBox="1"/>
          <p:nvPr/>
        </p:nvSpPr>
        <p:spPr>
          <a:xfrm>
            <a:off x="1976854" y="2609542"/>
            <a:ext cx="10330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1" i="0" dirty="0">
                <a:solidFill>
                  <a:srgbClr val="E6E8F0"/>
                </a:solidFill>
                <a:effectLst/>
                <a:latin typeface="Google Sans"/>
              </a:rPr>
              <a:t>💡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7DE582-650F-4517-8667-D49B6AE0A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195" y="272928"/>
            <a:ext cx="5980926" cy="70786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B6739-2FD8-4F4D-A0B6-D269E03E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60" y="72312"/>
            <a:ext cx="5428790" cy="1037191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РАБОТА С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WORKER-</a:t>
            </a: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АМИ: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7E405DD7-5E9A-42A3-8523-C40F31A2F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643" y="2899602"/>
            <a:ext cx="2372043" cy="127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>
            <a:extLst>
              <a:ext uri="{FF2B5EF4-FFF2-40B4-BE49-F238E27FC236}">
                <a16:creationId xmlns:a16="http://schemas.microsoft.com/office/drawing/2014/main" id="{2987D9B2-90FB-4D4F-8B27-692C0A482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094" y="1226281"/>
            <a:ext cx="2205855" cy="118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>
            <a:extLst>
              <a:ext uri="{FF2B5EF4-FFF2-40B4-BE49-F238E27FC236}">
                <a16:creationId xmlns:a16="http://schemas.microsoft.com/office/drawing/2014/main" id="{BEA68E65-DE9A-4671-AEEB-FD9B91C40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224" y="4757954"/>
            <a:ext cx="2372044" cy="127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9E4B6B0-0C1D-4481-9F07-581525ABC7E8}"/>
              </a:ext>
            </a:extLst>
          </p:cNvPr>
          <p:cNvSpPr txBox="1"/>
          <p:nvPr/>
        </p:nvSpPr>
        <p:spPr>
          <a:xfrm>
            <a:off x="1976854" y="2601612"/>
            <a:ext cx="769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Offline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56" name="Picture 20">
            <a:extLst>
              <a:ext uri="{FF2B5EF4-FFF2-40B4-BE49-F238E27FC236}">
                <a16:creationId xmlns:a16="http://schemas.microsoft.com/office/drawing/2014/main" id="{6BE8BBF5-5997-4DF0-B33F-3E764CF67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232" y="4813505"/>
            <a:ext cx="2205855" cy="122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2" name="Picture 26">
            <a:extLst>
              <a:ext uri="{FF2B5EF4-FFF2-40B4-BE49-F238E27FC236}">
                <a16:creationId xmlns:a16="http://schemas.microsoft.com/office/drawing/2014/main" id="{060B32C4-F2EE-4082-83E0-CF596B039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670" y="3931897"/>
            <a:ext cx="2104437" cy="1889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6" name="Picture 30">
            <a:extLst>
              <a:ext uri="{FF2B5EF4-FFF2-40B4-BE49-F238E27FC236}">
                <a16:creationId xmlns:a16="http://schemas.microsoft.com/office/drawing/2014/main" id="{690DE266-C9D7-4589-83C1-1DA63E539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96" y="1849659"/>
            <a:ext cx="3670067" cy="138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79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1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309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11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41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18" grpId="0"/>
      <p:bldP spid="1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62DD98-51AE-404B-BAE8-F78822783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39" y="248931"/>
            <a:ext cx="4696287" cy="80441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B6739-2FD8-4F4D-A0B6-D269E03E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API-</a:t>
            </a:r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ЭНДПОИНТЫ: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B19EF-8CF6-4278-9F62-4077B612ABB2}"/>
              </a:ext>
            </a:extLst>
          </p:cNvPr>
          <p:cNvSpPr txBox="1"/>
          <p:nvPr/>
        </p:nvSpPr>
        <p:spPr>
          <a:xfrm>
            <a:off x="6262454" y="651136"/>
            <a:ext cx="46962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Контроллер пользователей:</a:t>
            </a:r>
          </a:p>
          <a:p>
            <a:pPr algn="l"/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/auth/register</a:t>
            </a:r>
            <a:r>
              <a:rPr lang="ru-RU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регистрация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нового пользователя (принимает логин/пароль).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/auth/login 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Вход в систему (возвращает токен).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/users/me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Получение данных текущего пользователя по токену.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3F692E-51E4-4D9C-9158-E50A3BB3E08D}"/>
              </a:ext>
            </a:extLst>
          </p:cNvPr>
          <p:cNvSpPr txBox="1"/>
          <p:nvPr/>
        </p:nvSpPr>
        <p:spPr>
          <a:xfrm>
            <a:off x="600723" y="1574494"/>
            <a:ext cx="46962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Контроллер транзакций:</a:t>
            </a:r>
          </a:p>
          <a:p>
            <a:pPr algn="l"/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/transactions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Получить историю транзакций с параметрами фильтрации по дате.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/transactions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Создать новую транзакцию.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PUT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/transactions/{id}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Отредактировать существующую транзакцию.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DELETE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/transactions/{id}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Удалить транзакцию.</a:t>
            </a:r>
            <a:endParaRPr lang="en-US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Двусторонняя синхронизация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7B75F-ACBA-4CA3-9E8B-D5FE926F6826}"/>
              </a:ext>
            </a:extLst>
          </p:cNvPr>
          <p:cNvSpPr txBox="1"/>
          <p:nvPr/>
        </p:nvSpPr>
        <p:spPr>
          <a:xfrm>
            <a:off x="6262455" y="2723972"/>
            <a:ext cx="46962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Контроллер категорий:</a:t>
            </a:r>
            <a:endParaRPr lang="ru-RU" sz="14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ru-RU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/categories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Получить список всех категорий (Еда, Транспорт, Зарплата).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/categories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Добавить пользовательскую категорию.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DELETE /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/categories/{id}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Удалить категорию.</a:t>
            </a:r>
            <a:endParaRPr lang="en-US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 /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/categories/{id}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Отредактировать существующий счет.</a:t>
            </a:r>
            <a:endParaRPr lang="ru-RU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4D622-3E9F-4843-A5F2-6DE28DFDF7C1}"/>
              </a:ext>
            </a:extLst>
          </p:cNvPr>
          <p:cNvSpPr txBox="1"/>
          <p:nvPr/>
        </p:nvSpPr>
        <p:spPr>
          <a:xfrm>
            <a:off x="6262457" y="4955194"/>
            <a:ext cx="49367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Контроллер аналитики:</a:t>
            </a:r>
            <a:endParaRPr lang="ru-RU" sz="14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ru-RU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ru-RU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ru-RU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totals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Получить общую сумму доходов и расходов за период.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ru-RU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ru-RU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by-category</a:t>
            </a:r>
            <a:r>
              <a:rPr lang="ru-RU" sz="14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ru-RU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Получить суммы, сгруппированные по категориям.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0A71D-B8B1-4B6C-AEA3-D275909DBA42}"/>
              </a:ext>
            </a:extLst>
          </p:cNvPr>
          <p:cNvSpPr txBox="1"/>
          <p:nvPr/>
        </p:nvSpPr>
        <p:spPr>
          <a:xfrm>
            <a:off x="600723" y="4466220"/>
            <a:ext cx="46962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Контроллер категорий:</a:t>
            </a:r>
            <a:endParaRPr lang="ru-RU" sz="14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ru-RU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Получить список всех счетов пользователя.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Создать новый счет.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 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/{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 –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Отредактировать существующий счет.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/{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 –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Удалить счет.</a:t>
            </a:r>
            <a:endParaRPr lang="ru-RU" sz="140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55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6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2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0" grpId="0"/>
      <p:bldP spid="12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5CA94D-6EFD-4843-A1BF-48CCC4D22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7" y="328297"/>
            <a:ext cx="3647294" cy="11841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4E5EFE-044A-46C6-9E43-798FB8DA0AFC}"/>
              </a:ext>
            </a:extLst>
          </p:cNvPr>
          <p:cNvSpPr txBox="1"/>
          <p:nvPr/>
        </p:nvSpPr>
        <p:spPr>
          <a:xfrm>
            <a:off x="407551" y="394290"/>
            <a:ext cx="36472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[POSTGRESQL]</a:t>
            </a:r>
          </a:p>
          <a:p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Реляционная БД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5C7FF-F286-498B-82CB-B3663A3B28AB}"/>
              </a:ext>
            </a:extLst>
          </p:cNvPr>
          <p:cNvSpPr txBox="1"/>
          <p:nvPr/>
        </p:nvSpPr>
        <p:spPr>
          <a:xfrm>
            <a:off x="155277" y="2409469"/>
            <a:ext cx="379231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Использование </a:t>
            </a:r>
            <a:r>
              <a:rPr lang="ru-RU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триггеров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для: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Автоматического пересчета баланса пользователя.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Логирования всех изменений.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Избежание конфликтов при синхронизации за счет использования </a:t>
            </a: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UUID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 frontend.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1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оздание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представления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View)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аналитических отчетов.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6CC69-6CD4-44DC-AFF4-FE95E829844B}"/>
              </a:ext>
            </a:extLst>
          </p:cNvPr>
          <p:cNvSpPr txBox="1"/>
          <p:nvPr/>
        </p:nvSpPr>
        <p:spPr>
          <a:xfrm>
            <a:off x="83073" y="1763138"/>
            <a:ext cx="34762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АРХИТЕКТУРНЫЕ  РЕШЕНИЯ БАЗЫ ДАННЫХ:</a:t>
            </a:r>
          </a:p>
        </p:txBody>
      </p:sp>
      <p:pic>
        <p:nvPicPr>
          <p:cNvPr id="10" name="Рисунок 9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4B7E89-BA88-43BD-83BD-F1A0391FD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959" y="5806753"/>
            <a:ext cx="6810703" cy="8044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8A5636-79A2-49E1-8A68-0A42C6D6AB27}"/>
              </a:ext>
            </a:extLst>
          </p:cNvPr>
          <p:cNvSpPr txBox="1"/>
          <p:nvPr/>
        </p:nvSpPr>
        <p:spPr>
          <a:xfrm>
            <a:off x="5018822" y="5916570"/>
            <a:ext cx="6206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ER-DIAGRAM: SERVER SIDE</a:t>
            </a:r>
            <a:endParaRPr lang="ru-RU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FA3A8B-69FD-40F7-A29D-80BCAAF9E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959" y="264416"/>
            <a:ext cx="6963443" cy="504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22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5CA94D-6EFD-4843-A1BF-48CCC4D22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7" y="328297"/>
            <a:ext cx="3647294" cy="11841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4E5EFE-044A-46C6-9E43-798FB8DA0AFC}"/>
              </a:ext>
            </a:extLst>
          </p:cNvPr>
          <p:cNvSpPr txBox="1"/>
          <p:nvPr/>
        </p:nvSpPr>
        <p:spPr>
          <a:xfrm>
            <a:off x="407551" y="394290"/>
            <a:ext cx="36472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[INDEXEDDB]</a:t>
            </a:r>
          </a:p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Локальная БД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5C7FF-F286-498B-82CB-B3663A3B28AB}"/>
              </a:ext>
            </a:extLst>
          </p:cNvPr>
          <p:cNvSpPr txBox="1"/>
          <p:nvPr/>
        </p:nvSpPr>
        <p:spPr>
          <a:xfrm>
            <a:off x="155277" y="2409469"/>
            <a:ext cx="437468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 </a:t>
            </a: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offline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-режима реализуется через: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Хранения транзакций в таблице до появления сети.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Использование паттерна </a:t>
            </a: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Outbox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Кэширование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быстрого отклика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Автоматическое удаление 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локальных записей при получении  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 200 </a:t>
            </a:r>
            <a:r>
              <a:rPr lang="ru-RU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сервера.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6CC69-6CD4-44DC-AFF4-FE95E829844B}"/>
              </a:ext>
            </a:extLst>
          </p:cNvPr>
          <p:cNvSpPr txBox="1"/>
          <p:nvPr/>
        </p:nvSpPr>
        <p:spPr>
          <a:xfrm>
            <a:off x="24026" y="1804057"/>
            <a:ext cx="34762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ЛОГИКА ЛОКАЛЬНОГО ХРАНЕНИЯ</a:t>
            </a:r>
            <a:r>
              <a:rPr lang="ru-RU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10" name="Рисунок 9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4B7E89-BA88-43BD-83BD-F1A0391FD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959" y="5806753"/>
            <a:ext cx="6810703" cy="8044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8A5636-79A2-49E1-8A68-0A42C6D6AB27}"/>
              </a:ext>
            </a:extLst>
          </p:cNvPr>
          <p:cNvSpPr txBox="1"/>
          <p:nvPr/>
        </p:nvSpPr>
        <p:spPr>
          <a:xfrm>
            <a:off x="5018822" y="5916570"/>
            <a:ext cx="6206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CLIENT-SIDE DATA SCHEMA</a:t>
            </a:r>
            <a:endParaRPr lang="ru-RU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313C07-3BE8-4BB3-845B-8BFB2797C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251" y="552036"/>
            <a:ext cx="6206359" cy="501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04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BF437C-6F42-4C59-B0D1-A3E5CA965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7" y="375180"/>
            <a:ext cx="3932340" cy="17765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4E5EFE-044A-46C6-9E43-798FB8DA0AFC}"/>
              </a:ext>
            </a:extLst>
          </p:cNvPr>
          <p:cNvSpPr txBox="1"/>
          <p:nvPr/>
        </p:nvSpPr>
        <p:spPr>
          <a:xfrm>
            <a:off x="497047" y="520010"/>
            <a:ext cx="39323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OMPONENTS</a:t>
            </a: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b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BUDGET API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5C7FF-F286-498B-82CB-B3663A3B28AB}"/>
              </a:ext>
            </a:extLst>
          </p:cNvPr>
          <p:cNvSpPr txBox="1"/>
          <p:nvPr/>
        </p:nvSpPr>
        <p:spPr>
          <a:xfrm>
            <a:off x="3047301" y="3107932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Здесь что-то есть?</a:t>
            </a:r>
            <a:b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404.</a:t>
            </a:r>
            <a:endParaRPr lang="ru-RU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908DD6-6FE2-4CF7-A9B4-E940C9E42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426" y="2516074"/>
            <a:ext cx="3040296" cy="443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7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F7C849-2E5A-416A-9092-B733AE552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2" y="355261"/>
            <a:ext cx="4050318" cy="17344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4E5EFE-044A-46C6-9E43-798FB8DA0AFC}"/>
              </a:ext>
            </a:extLst>
          </p:cNvPr>
          <p:cNvSpPr txBox="1"/>
          <p:nvPr/>
        </p:nvSpPr>
        <p:spPr>
          <a:xfrm>
            <a:off x="549599" y="416434"/>
            <a:ext cx="40078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OMPONENTS</a:t>
            </a: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b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PWA FRONTEND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5C7FF-F286-498B-82CB-B3663A3B28AB}"/>
              </a:ext>
            </a:extLst>
          </p:cNvPr>
          <p:cNvSpPr txBox="1"/>
          <p:nvPr/>
        </p:nvSpPr>
        <p:spPr>
          <a:xfrm>
            <a:off x="3047301" y="3107932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Здесь что-то есть?</a:t>
            </a:r>
            <a:b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404.</a:t>
            </a:r>
            <a:endParaRPr lang="ru-RU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0809D8-E5B3-4851-B804-3949F47D5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426" y="2516074"/>
            <a:ext cx="3040296" cy="443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6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4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44D26F-C096-4004-8FD8-AA0599BFC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94" y="413766"/>
            <a:ext cx="8092650" cy="8588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2A46E7-0D90-467C-92D6-848C9321BB65}"/>
              </a:ext>
            </a:extLst>
          </p:cNvPr>
          <p:cNvSpPr txBox="1"/>
          <p:nvPr/>
        </p:nvSpPr>
        <p:spPr>
          <a:xfrm>
            <a:off x="497047" y="520010"/>
            <a:ext cx="7673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ВИЗУАЛИЗАЦИЯ РАБОТЫ 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PWA</a:t>
            </a:r>
            <a:r>
              <a:rPr lang="ru-RU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EB358-3379-4747-A251-5C9625B429ED}"/>
              </a:ext>
            </a:extLst>
          </p:cNvPr>
          <p:cNvSpPr txBox="1"/>
          <p:nvPr/>
        </p:nvSpPr>
        <p:spPr>
          <a:xfrm>
            <a:off x="3047260" y="3108054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Здесь что-то есть?</a:t>
            </a:r>
            <a:b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404.</a:t>
            </a:r>
            <a:endParaRPr lang="ru-RU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C60287-AB88-4C0F-8FC2-B6F4F849A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9533" y="2070538"/>
            <a:ext cx="8372795" cy="478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2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442F98-FA8C-48D2-98C7-5615424D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81" y="384056"/>
            <a:ext cx="4825667" cy="9653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10FA2-C3BB-442A-ADD8-6A8B3A0A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4" y="267470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РЕЗУЛЬТАТЫ: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7B39D-B0ED-4219-B7E9-C8F21DBB4E4C}"/>
              </a:ext>
            </a:extLst>
          </p:cNvPr>
          <p:cNvSpPr txBox="1"/>
          <p:nvPr/>
        </p:nvSpPr>
        <p:spPr>
          <a:xfrm>
            <a:off x="3047260" y="3108054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Здесь что-то есть?</a:t>
            </a:r>
            <a:b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404.</a:t>
            </a:r>
            <a:endParaRPr lang="ru-RU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F02988C-4E1E-4102-A063-ED98A27DF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2104" y="4146130"/>
            <a:ext cx="7776835" cy="350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6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F16F42CA-838C-4B48-A356-5B6F6DE0D101}" vid="{05659B46-2D2C-4CB7-9359-63D8C90B5749}"/>
    </a:ext>
  </a:extLst>
</a:theme>
</file>

<file path=ppt/theme/theme2.xml><?xml version="1.0" encoding="utf-8"?>
<a:theme xmlns:a="http://schemas.openxmlformats.org/drawingml/2006/main" name="1_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F16F42CA-838C-4B48-A356-5B6F6DE0D101}" vid="{05659B46-2D2C-4CB7-9359-63D8C90B5749}"/>
    </a:ext>
  </a:extLst>
</a:theme>
</file>

<file path=ppt/theme/theme3.xml><?xml version="1.0" encoding="utf-8"?>
<a:theme xmlns:a="http://schemas.openxmlformats.org/drawingml/2006/main" name="2_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F16F42CA-838C-4B48-A356-5B6F6DE0D101}" vid="{05659B46-2D2C-4CB7-9359-63D8C90B5749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1012</Words>
  <Application>Microsoft Office PowerPoint</Application>
  <PresentationFormat>Широкоэкранный</PresentationFormat>
  <Paragraphs>203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Google Sans</vt:lpstr>
      <vt:lpstr>Тема1</vt:lpstr>
      <vt:lpstr>1_Тема1</vt:lpstr>
      <vt:lpstr>2_Тема1</vt:lpstr>
      <vt:lpstr>Презентация PowerPoint</vt:lpstr>
      <vt:lpstr>Презентация PowerPoint</vt:lpstr>
      <vt:lpstr>Презентация PowerPoint</vt:lpstr>
      <vt:lpstr>АРХИТЕКТУРА (С4 Model)</vt:lpstr>
      <vt:lpstr>Презентация PowerPoint</vt:lpstr>
      <vt:lpstr>Презентация PowerPoint</vt:lpstr>
      <vt:lpstr>Презентация PowerPoint</vt:lpstr>
      <vt:lpstr>Презентация PowerPoint</vt:lpstr>
      <vt:lpstr>РАБОТА С WORKER-АМИ:</vt:lpstr>
      <vt:lpstr>РАБОТА С WORKER-АМИ:</vt:lpstr>
      <vt:lpstr>API-ЭНДПОИНТЫ: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ITdiakon</dc:creator>
  <cp:lastModifiedBy>ITdiakon</cp:lastModifiedBy>
  <cp:revision>84</cp:revision>
  <dcterms:created xsi:type="dcterms:W3CDTF">2026-04-04T13:42:30Z</dcterms:created>
  <dcterms:modified xsi:type="dcterms:W3CDTF">2026-04-09T18:47:57Z</dcterms:modified>
</cp:coreProperties>
</file>